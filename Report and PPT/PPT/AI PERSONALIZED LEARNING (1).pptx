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31" name="Google Shape;31;p3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33" name="Google Shape;33;p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34" name="Google Shape;34;p3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.jpg" id="36" name="Google Shape;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8300" lvl="1" marL="9144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8300" lvl="2" marL="1371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8300" lvl="3" marL="18288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8300" lvl="4" marL="22860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64" name="Google Shape;64;p6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6"/>
          <p:cNvGrpSpPr/>
          <p:nvPr/>
        </p:nvGrpSpPr>
        <p:grpSpPr>
          <a:xfrm>
            <a:off x="6146800" y="0"/>
            <a:ext cx="2997300" cy="876300"/>
            <a:chOff x="6096000" y="3924300"/>
            <a:chExt cx="2997300" cy="876300"/>
          </a:xfrm>
        </p:grpSpPr>
        <p:sp>
          <p:nvSpPr>
            <p:cNvPr id="66" name="Google Shape;66;p6"/>
            <p:cNvSpPr/>
            <p:nvPr/>
          </p:nvSpPr>
          <p:spPr>
            <a:xfrm>
              <a:off x="6096000" y="3924300"/>
              <a:ext cx="29973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67" name="Google Shape;67;p6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6"/>
            <p:cNvSpPr/>
            <p:nvPr/>
          </p:nvSpPr>
          <p:spPr>
            <a:xfrm>
              <a:off x="6477000" y="4114800"/>
              <a:ext cx="207660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.jp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28600"/>
            <a:ext cx="192087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8300" lvl="1" marL="9144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8300" lvl="2" marL="1371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8300" lvl="3" marL="18288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8300" lvl="4" marL="22860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(g3e790639e61_7_0)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" type="body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8300" lvl="1" marL="9144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8300" lvl="2" marL="1371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8300" lvl="3" marL="18288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8300" lvl="4" marL="22860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jp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flipH="1" rot="10800000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.jpg" id="23" name="Google Shape;2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" type="body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 flipH="1" rot="10800000">
            <a:off x="0" y="6705716"/>
            <a:ext cx="9144000" cy="19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50" name="Google Shape;50;p4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51" name="Google Shape;51;p4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4"/>
          <p:cNvGrpSpPr/>
          <p:nvPr/>
        </p:nvGrpSpPr>
        <p:grpSpPr>
          <a:xfrm>
            <a:off x="6146800" y="0"/>
            <a:ext cx="2997300" cy="876300"/>
            <a:chOff x="6096000" y="3924300"/>
            <a:chExt cx="2997300" cy="876300"/>
          </a:xfrm>
        </p:grpSpPr>
        <p:sp>
          <p:nvSpPr>
            <p:cNvPr id="53" name="Google Shape;53;p4"/>
            <p:cNvSpPr/>
            <p:nvPr/>
          </p:nvSpPr>
          <p:spPr>
            <a:xfrm>
              <a:off x="6096000" y="3924300"/>
              <a:ext cx="29973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54" name="Google Shape;54;p4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p4"/>
            <p:cNvSpPr/>
            <p:nvPr/>
          </p:nvSpPr>
          <p:spPr>
            <a:xfrm>
              <a:off x="6477000" y="4114800"/>
              <a:ext cx="207660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ogo.jpg" id="56" name="Google Shape;5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228600"/>
            <a:ext cx="1920876" cy="60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3"/>
    <p:sldLayoutId id="2147483651" r:id="rId4"/>
    <p:sldLayoutId id="2147483652" r:id="rId5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jp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hyperlink" Target="https://nextjs.org/" TargetMode="External"/><Relationship Id="rId10" Type="http://schemas.openxmlformats.org/officeDocument/2006/relationships/hyperlink" Target="https://economicgraph.linkedin.com/" TargetMode="External"/><Relationship Id="rId13" Type="http://schemas.openxmlformats.org/officeDocument/2006/relationships/hyperlink" Target="https://www.postman.com/" TargetMode="External"/><Relationship Id="rId12" Type="http://schemas.openxmlformats.org/officeDocument/2006/relationships/hyperlink" Target="https://chakra-ui.com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clerk.dev/" TargetMode="External"/><Relationship Id="rId4" Type="http://schemas.openxmlformats.org/officeDocument/2006/relationships/hyperlink" Target="https://nodejs.org/" TargetMode="External"/><Relationship Id="rId9" Type="http://schemas.openxmlformats.org/officeDocument/2006/relationships/hyperlink" Target="https://ai.google.dev/" TargetMode="External"/><Relationship Id="rId15" Type="http://schemas.openxmlformats.org/officeDocument/2006/relationships/hyperlink" Target="https://sentry.io/" TargetMode="External"/><Relationship Id="rId14" Type="http://schemas.openxmlformats.org/officeDocument/2006/relationships/hyperlink" Target="https://www.datadoghq.com/" TargetMode="External"/><Relationship Id="rId5" Type="http://schemas.openxmlformats.org/officeDocument/2006/relationships/hyperlink" Target="https://expressjs.com/" TargetMode="External"/><Relationship Id="rId6" Type="http://schemas.openxmlformats.org/officeDocument/2006/relationships/hyperlink" Target="https://www.postgresql.org/" TargetMode="External"/><Relationship Id="rId7" Type="http://schemas.openxmlformats.org/officeDocument/2006/relationships/hyperlink" Target="https://neon.tech/" TargetMode="External"/><Relationship Id="rId8" Type="http://schemas.openxmlformats.org/officeDocument/2006/relationships/hyperlink" Target="https://www.prisma.io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495300" y="1916775"/>
            <a:ext cx="81534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None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Career Coach And Resume Optimization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 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Aadil Verma (2210991102)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Aryan Thakur  (2210991391)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Harshit Kumar  (2210991635)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Vansh Thakur  (2210992499)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Dr. Rajat Takkar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 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1167900" y="923575"/>
            <a:ext cx="74808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Table of Contents</a:t>
            </a:r>
            <a:endParaRPr/>
          </a:p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457200" y="1291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900"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900"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Technical Details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00"/>
              <a:buChar char="⮚"/>
            </a:pPr>
            <a:r>
              <a:rPr lang="en-US" sz="1900"/>
              <a:t>System Design</a:t>
            </a:r>
            <a:endParaRPr sz="1900"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00"/>
              <a:buChar char="⮚"/>
            </a:pPr>
            <a:r>
              <a:rPr lang="en-US" sz="1900"/>
              <a:t>Objectives</a:t>
            </a:r>
            <a:endParaRPr sz="1900"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Project Highlights</a:t>
            </a:r>
            <a:endParaRPr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/>
              <a:t>Key Features</a:t>
            </a:r>
            <a:endParaRPr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00"/>
              <a:buChar char="⮚"/>
            </a:pPr>
            <a:r>
              <a:rPr lang="en-US" sz="1900"/>
              <a:t>Future Scope</a:t>
            </a:r>
            <a:endParaRPr sz="1900"/>
          </a:p>
          <a:p>
            <a:pPr indent="-4254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References/Links used</a:t>
            </a:r>
            <a:endParaRPr sz="1900"/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900"/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900"/>
          </a:p>
        </p:txBody>
      </p:sp>
      <p:sp>
        <p:nvSpPr>
          <p:cNvPr id="93" name="Google Shape;93;p9"/>
          <p:cNvSpPr txBox="1"/>
          <p:nvPr/>
        </p:nvSpPr>
        <p:spPr>
          <a:xfrm>
            <a:off x="4393206" y="4827585"/>
            <a:ext cx="4293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Fig.1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525" y="1291325"/>
            <a:ext cx="5374574" cy="34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Introduction</a:t>
            </a:r>
            <a:endParaRPr/>
          </a:p>
        </p:txBody>
      </p:sp>
      <p:pic>
        <p:nvPicPr>
          <p:cNvPr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1841" y="4224776"/>
            <a:ext cx="4399400" cy="20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/>
        </p:nvSpPr>
        <p:spPr>
          <a:xfrm>
            <a:off x="246046" y="1210422"/>
            <a:ext cx="8578904" cy="39722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Personalized Learning is an intelligent career insights platform designed to help professionals and job seekers stay ahead in their careers by analyzing real-time market trends, salary data, and skill demands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users with valuable insights to make informed career decisions.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seamless onboarding process, secure login, and AI-powered analytics, users can explore industry growth, demand levels, and top skills required in their field. Whether you're a fresher looking for career guidance or an experienced professional aiming for growth, it empowers you with data-driven recommendations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4572000" y="6247125"/>
            <a:ext cx="44349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Fig.2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107" name="Google Shape;107;p11"/>
          <p:cNvPicPr preferRelativeResize="0"/>
          <p:nvPr/>
        </p:nvPicPr>
        <p:blipFill rotWithShape="1">
          <a:blip r:embed="rId4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1"/>
          <p:cNvGrpSpPr/>
          <p:nvPr/>
        </p:nvGrpSpPr>
        <p:grpSpPr>
          <a:xfrm>
            <a:off x="6146800" y="-3924300"/>
            <a:ext cx="3048097" cy="4800600"/>
            <a:chOff x="6096000" y="0"/>
            <a:chExt cx="3048097" cy="4800600"/>
          </a:xfrm>
        </p:grpSpPr>
        <p:sp>
          <p:nvSpPr>
            <p:cNvPr id="109" name="Google Shape;109;p11"/>
            <p:cNvSpPr/>
            <p:nvPr/>
          </p:nvSpPr>
          <p:spPr>
            <a:xfrm>
              <a:off x="6096000" y="3924300"/>
              <a:ext cx="29973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110" name="Google Shape;110;p11"/>
            <p:cNvPicPr preferRelativeResize="0"/>
            <p:nvPr/>
          </p:nvPicPr>
          <p:blipFill rotWithShape="1">
            <a:blip r:embed="rId4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1"/>
            <p:cNvSpPr/>
            <p:nvPr/>
          </p:nvSpPr>
          <p:spPr>
            <a:xfrm>
              <a:off x="6477000" y="4114800"/>
              <a:ext cx="207660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6146797" y="0"/>
              <a:ext cx="29973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" name="Google Shape;113;p11"/>
            <p:cNvPicPr preferRelativeResize="0"/>
            <p:nvPr/>
          </p:nvPicPr>
          <p:blipFill rotWithShape="1">
            <a:blip r:embed="rId4">
              <a:alphaModFix/>
            </a:blip>
            <a:srcRect b="0" l="0" r="0" t="10"/>
            <a:stretch/>
          </p:blipFill>
          <p:spPr>
            <a:xfrm>
              <a:off x="6553200" y="228600"/>
              <a:ext cx="2057400" cy="71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1"/>
            <p:cNvSpPr/>
            <p:nvPr/>
          </p:nvSpPr>
          <p:spPr>
            <a:xfrm>
              <a:off x="6527797" y="190500"/>
              <a:ext cx="20766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15" name="Google Shape;11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3200" y="228600"/>
            <a:ext cx="192087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 txBox="1"/>
          <p:nvPr>
            <p:ph type="title"/>
          </p:nvPr>
        </p:nvSpPr>
        <p:spPr>
          <a:xfrm>
            <a:off x="123900" y="247650"/>
            <a:ext cx="571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3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457200" y="1095375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today’s fast-changing job market, many individuals struggle with several critical challenges:</a:t>
            </a:r>
            <a:endParaRPr b="0" sz="1400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8" name="Google Shape;118;p11"/>
          <p:cNvGrpSpPr/>
          <p:nvPr/>
        </p:nvGrpSpPr>
        <p:grpSpPr>
          <a:xfrm>
            <a:off x="457200" y="1619250"/>
            <a:ext cx="8229750" cy="2047875"/>
            <a:chOff x="457200" y="1619250"/>
            <a:chExt cx="8229750" cy="2047875"/>
          </a:xfrm>
        </p:grpSpPr>
        <p:sp>
          <p:nvSpPr>
            <p:cNvPr id="119" name="Google Shape;119;p11"/>
            <p:cNvSpPr/>
            <p:nvPr/>
          </p:nvSpPr>
          <p:spPr>
            <a:xfrm>
              <a:off x="457200" y="161925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 txBox="1"/>
            <p:nvPr/>
          </p:nvSpPr>
          <p:spPr>
            <a:xfrm>
              <a:off x="647700" y="171450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Uncertainty in Career Planning</a:t>
              </a:r>
              <a:endParaRPr b="1" sz="140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Lack of clear guidance on the right career path.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4781550" y="161925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 txBox="1"/>
            <p:nvPr/>
          </p:nvSpPr>
          <p:spPr>
            <a:xfrm>
              <a:off x="4972050" y="171450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Resume &amp; Interview Challenges</a:t>
              </a:r>
              <a:endParaRPr b="1" sz="140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Difficulty in crafting strong resumes and preparing effectively for interviews.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457200" y="2714625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 txBox="1"/>
            <p:nvPr/>
          </p:nvSpPr>
          <p:spPr>
            <a:xfrm>
              <a:off x="647700" y="2809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Lack of Industry Insights</a:t>
              </a:r>
              <a:endParaRPr b="1" sz="140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Limited access to real-time job market trends and growth opportunities.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4781550" y="2714625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 txBox="1"/>
            <p:nvPr/>
          </p:nvSpPr>
          <p:spPr>
            <a:xfrm>
              <a:off x="4972050" y="2809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Skill Gap Identification</a:t>
              </a:r>
              <a:endParaRPr b="1" sz="1400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clear understanding of required skills and areas for improvement.</a:t>
              </a:r>
              <a:endParaRPr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7" name="Google Shape;127;p11"/>
          <p:cNvGrpSpPr/>
          <p:nvPr/>
        </p:nvGrpSpPr>
        <p:grpSpPr>
          <a:xfrm>
            <a:off x="457200" y="3905250"/>
            <a:ext cx="8229600" cy="1143000"/>
            <a:chOff x="457200" y="3905250"/>
            <a:chExt cx="8229600" cy="1143000"/>
          </a:xfrm>
        </p:grpSpPr>
        <p:sp>
          <p:nvSpPr>
            <p:cNvPr id="128" name="Google Shape;128;p11"/>
            <p:cNvSpPr/>
            <p:nvPr/>
          </p:nvSpPr>
          <p:spPr>
            <a:xfrm>
              <a:off x="457200" y="3905250"/>
              <a:ext cx="8229600" cy="1143000"/>
            </a:xfrm>
            <a:prstGeom prst="roundRect">
              <a:avLst>
                <a:gd fmla="val 8333" name="adj"/>
              </a:avLst>
            </a:prstGeom>
            <a:solidFill>
              <a:srgbClr val="E6F2FF"/>
            </a:solidFill>
            <a:ln cap="flat" cmpd="sng" w="9525">
              <a:solidFill>
                <a:srgbClr val="0066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 txBox="1"/>
            <p:nvPr/>
          </p:nvSpPr>
          <p:spPr>
            <a:xfrm>
              <a:off x="647700" y="400050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4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Solution: AI Career Coach </a:t>
              </a:r>
              <a:endParaRPr b="1" sz="1600">
                <a:solidFill>
                  <a:srgbClr val="00408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Addresses these challenges by providing </a:t>
              </a:r>
              <a:r>
                <a:rPr b="1"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personalized career guidance, AI-driven resume analysis, interview preparation, and real-time industry insights</a:t>
              </a: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helping users make informed career decisions.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30" name="Google Shape;130;p11"/>
          <p:cNvPicPr preferRelativeResize="0"/>
          <p:nvPr/>
        </p:nvPicPr>
        <p:blipFill rotWithShape="1">
          <a:blip r:embed="rId6">
            <a:alphaModFix/>
          </a:blip>
          <a:srcRect b="5036" l="4479" r="8040" t="5027"/>
          <a:stretch/>
        </p:blipFill>
        <p:spPr>
          <a:xfrm>
            <a:off x="2412475" y="5143500"/>
            <a:ext cx="4140900" cy="1333500"/>
          </a:xfrm>
          <a:prstGeom prst="roundRect">
            <a:avLst>
              <a:gd fmla="val 7142" name="adj"/>
            </a:avLst>
          </a:prstGeom>
          <a:noFill/>
          <a:ln>
            <a:noFill/>
          </a:ln>
        </p:spPr>
      </p:pic>
      <p:sp>
        <p:nvSpPr>
          <p:cNvPr id="131" name="Google Shape;131;p11"/>
          <p:cNvSpPr txBox="1"/>
          <p:nvPr/>
        </p:nvSpPr>
        <p:spPr>
          <a:xfrm>
            <a:off x="4095750" y="652462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Fig.3</a:t>
            </a:r>
            <a:endParaRPr b="1" sz="1200">
              <a:solidFill>
                <a:srgbClr val="7777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Technical Details</a:t>
            </a:r>
            <a:endParaRPr/>
          </a:p>
        </p:txBody>
      </p:sp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267359" y="997190"/>
            <a:ext cx="8609400" cy="23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Next.js,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ShadCn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UI, JavaScript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Node.js, Express.js, PostgreSQL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&amp; Security: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JWT (JSON Web Token) by Clerk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&amp; Infrastructure: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Hosting (Vercel), Database Service (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PostgreSQL)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ORM &amp; Database Management: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Prisma ORM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Integration: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Gemini APIs (for AI-driven features like interview preparation and resume analysis)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&amp; Monitoring: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Postman (for API testing and middleware validation)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20412"/>
          <a:stretch/>
        </p:blipFill>
        <p:spPr>
          <a:xfrm>
            <a:off x="1287941" y="3562079"/>
            <a:ext cx="6857999" cy="271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2"/>
          <p:cNvSpPr txBox="1"/>
          <p:nvPr/>
        </p:nvSpPr>
        <p:spPr>
          <a:xfrm>
            <a:off x="998060" y="6271973"/>
            <a:ext cx="6858000" cy="500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Fig.4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System Design</a:t>
            </a:r>
            <a:endParaRPr b="1"/>
          </a:p>
        </p:txBody>
      </p:sp>
      <p:sp>
        <p:nvSpPr>
          <p:cNvPr id="147" name="Google Shape;147;p13"/>
          <p:cNvSpPr txBox="1"/>
          <p:nvPr>
            <p:ph idx="1" type="body"/>
          </p:nvPr>
        </p:nvSpPr>
        <p:spPr>
          <a:xfrm>
            <a:off x="373725" y="1037750"/>
            <a:ext cx="8229600" cy="4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 system design outlines the complete technical structure of the AI Career Coach, detailing how components interact and are managed across the stack.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1 Architecture</a:t>
            </a:r>
            <a:endParaRPr b="1"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 application architecture follows a modular full-stack approach:</a:t>
            </a:r>
            <a:endParaRPr sz="1600"/>
          </a:p>
          <a:p>
            <a:pPr indent="-3302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Frontend: Developed using Next.js with Chakra UI and shadcn/ui for responsive UI components</a:t>
            </a:r>
            <a:endParaRPr sz="1600"/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Backend: Built on Node.js and Express.js, handling routing, authentication, and logic</a:t>
            </a:r>
            <a:endParaRPr sz="1600"/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Database: PostgreSQL hosted on Supabase, managed using Prisma ORM</a:t>
            </a:r>
            <a:endParaRPr sz="1600"/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Authentication: Handled securely using Clerk and JWT tokens</a:t>
            </a:r>
            <a:endParaRPr sz="1600"/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AI Integration: Gemini APIs are used for career suggestions, resume analysis, and interview prep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rPr b="1" lang="en-US" sz="1600"/>
              <a:t> 2  Flow:</a:t>
            </a:r>
            <a:br>
              <a:rPr b="1" lang="en-US" sz="1600"/>
            </a:br>
            <a:r>
              <a:rPr lang="en-US" sz="1600"/>
              <a:t>User → Next.js → Express API →</a:t>
            </a:r>
            <a:r>
              <a:rPr lang="en-US" sz="1600"/>
              <a:t> Clerk (Auth)</a:t>
            </a:r>
            <a:r>
              <a:rPr lang="en-US" sz="1600"/>
              <a:t> </a:t>
            </a:r>
            <a:r>
              <a:rPr lang="en-US" sz="1600"/>
              <a:t>→ </a:t>
            </a:r>
            <a:r>
              <a:rPr lang="en-US" sz="1600"/>
              <a:t>PostgreSQL (via Prisma) → Gemini API (AI).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System Design</a:t>
            </a:r>
            <a:endParaRPr b="1"/>
          </a:p>
        </p:txBody>
      </p:sp>
      <p:sp>
        <p:nvSpPr>
          <p:cNvPr id="154" name="Google Shape;154;p14"/>
          <p:cNvSpPr txBox="1"/>
          <p:nvPr>
            <p:ph idx="1" type="body"/>
          </p:nvPr>
        </p:nvSpPr>
        <p:spPr>
          <a:xfrm>
            <a:off x="457200" y="116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 sz="1400"/>
              <a:t>2.1  High-Level Design Diagram</a:t>
            </a:r>
            <a:endParaRPr b="1" sz="1400"/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2200"/>
              <a:buNone/>
            </a:pPr>
            <a:r>
              <a:t/>
            </a:r>
            <a:endParaRPr b="1" sz="1400"/>
          </a:p>
        </p:txBody>
      </p:sp>
      <p:sp>
        <p:nvSpPr>
          <p:cNvPr descr="Generated image: AI personalized learning tech stack diagram" id="155" name="Google Shape;155;p14"/>
          <p:cNvSpPr/>
          <p:nvPr/>
        </p:nvSpPr>
        <p:spPr>
          <a:xfrm>
            <a:off x="1894114" y="3276600"/>
            <a:ext cx="2830286" cy="2830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1519825" y="6109850"/>
            <a:ext cx="5787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5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025" y="1583750"/>
            <a:ext cx="7293975" cy="45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System Design</a:t>
            </a:r>
            <a:endParaRPr b="1"/>
          </a:p>
        </p:txBody>
      </p:sp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457200" y="1277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  2.2 ER Diagram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User</a:t>
            </a:r>
            <a:endParaRPr b="1" sz="1600"/>
          </a:p>
          <a:p>
            <a:pPr indent="-3302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Attributes: user_id, clerkUserId, name, email, bio, industry, timestamps</a:t>
            </a:r>
            <a:endParaRPr sz="1600"/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Relationships:</a:t>
            </a:r>
            <a:endParaRPr sz="1600"/>
          </a:p>
          <a:p>
            <a:pPr indent="-3302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/>
              <a:t>One user → Many Resumes</a:t>
            </a:r>
            <a:endParaRPr sz="1600"/>
          </a:p>
          <a:p>
            <a:pPr indent="-3302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/>
              <a:t>One user → Many Interviews</a:t>
            </a:r>
            <a:endParaRPr sz="1600"/>
          </a:p>
          <a:p>
            <a:pPr indent="-33020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/>
              <a:t>One user → Many Assessments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Resume</a:t>
            </a:r>
            <a:endParaRPr b="1" sz="1600"/>
          </a:p>
          <a:p>
            <a:pPr indent="-3302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Attributes: resume_id, user_id (FK), skills, experience, education, filePath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Interview</a:t>
            </a:r>
            <a:endParaRPr b="1" sz="1600"/>
          </a:p>
          <a:p>
            <a:pPr indent="-3302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Attributes: interview_id, user_id (FK), questions (JSON), score, feedback, date</a:t>
            </a:r>
            <a:endParaRPr sz="160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Assessment</a:t>
            </a:r>
            <a:endParaRPr b="1" sz="1600"/>
          </a:p>
          <a:p>
            <a:pPr indent="-3302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/>
              <a:t>Attributes: assessment_id, user_id (FK), category, quizScore, improvementTips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System Design</a:t>
            </a:r>
            <a:endParaRPr b="1"/>
          </a:p>
        </p:txBody>
      </p:sp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1600"/>
              <a:t>ER Diagram: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1600"/>
          </a:p>
        </p:txBody>
      </p:sp>
      <p:pic>
        <p:nvPicPr>
          <p:cNvPr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8071" r="0" t="0"/>
          <a:stretch/>
        </p:blipFill>
        <p:spPr>
          <a:xfrm>
            <a:off x="1174575" y="1878600"/>
            <a:ext cx="6794850" cy="36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2836750" y="58977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6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System Design</a:t>
            </a:r>
            <a:endParaRPr b="1"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220725" y="116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2.3 UML Diagrams</a:t>
            </a:r>
            <a:endParaRPr b="1" sz="1600"/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Class Diagram</a:t>
            </a:r>
            <a:endParaRPr b="1" sz="1600"/>
          </a:p>
          <a:p>
            <a:pPr indent="-323850" lvl="0" marL="45720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600"/>
              <a:t>User: userId, name, email, password, industry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600"/>
              <a:t>Resume: resumeId, userId, skills, experience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600"/>
              <a:t>Job: jobId, title, description, company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600"/>
              <a:t>Interview: interviewId, userId, score, feedback</a:t>
            </a:r>
            <a:endParaRPr sz="1600"/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Sequence Diagram – Login Flow</a:t>
            </a:r>
            <a:endParaRPr b="1" sz="1600"/>
          </a:p>
          <a:p>
            <a:pPr indent="-323850" lvl="0" marL="45720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User opens login page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Sends credentials to /api/auth/login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Server validates and returns JWT + Clerk session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User redirected to dashboard with session token</a:t>
            </a:r>
            <a:endParaRPr sz="1600"/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Activity Diagram – Resume Generation Flow</a:t>
            </a:r>
            <a:endParaRPr b="1" sz="1600"/>
          </a:p>
          <a:p>
            <a:pPr indent="-323850" lvl="0" marL="45720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User uploads/responses input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Data sent to backend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Gemini API processes request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Response saved in database</a:t>
            </a:r>
            <a:endParaRPr sz="16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600"/>
              <a:t>Resume preview/downloaded</a:t>
            </a:r>
            <a:endParaRPr sz="1600"/>
          </a:p>
        </p:txBody>
      </p:sp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5312" r="0" t="3091"/>
          <a:stretch/>
        </p:blipFill>
        <p:spPr>
          <a:xfrm>
            <a:off x="5010150" y="1981200"/>
            <a:ext cx="4133850" cy="39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5450325" y="61368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7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Objectives</a:t>
            </a:r>
            <a:endParaRPr b="1"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Objectives</a:t>
            </a:r>
            <a:endParaRPr b="1" sz="1600"/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600"/>
              <a:t>Generate AI-Powered Career Documents:</a:t>
            </a:r>
            <a:r>
              <a:rPr lang="en-US" sz="1600"/>
              <a:t> Create personalized and optimized resumes and cover letters using advanced AI models.</a:t>
            </a:r>
            <a:br>
              <a:rPr lang="en-US" sz="1600"/>
            </a:br>
            <a:endParaRPr sz="16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600"/>
              <a:t>Provide Smart Job Recommendations:</a:t>
            </a:r>
            <a:r>
              <a:rPr lang="en-US" sz="1600"/>
              <a:t> Suggest suitable job opportunities aligned with the user’s skills, experience, and career goals.</a:t>
            </a:r>
            <a:br>
              <a:rPr lang="en-US" sz="1600"/>
            </a:br>
            <a:endParaRPr sz="16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600"/>
              <a:t>Enhance Interview Preparation:</a:t>
            </a:r>
            <a:r>
              <a:rPr lang="en-US" sz="1600"/>
              <a:t> Conduct interactive mock interviews and deliver AI-driven feedback with potential Q&amp;A.</a:t>
            </a:r>
            <a:br>
              <a:rPr lang="en-US" sz="1600"/>
            </a:br>
            <a:endParaRPr sz="16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600"/>
              <a:t>Deliver Market Insights:</a:t>
            </a:r>
            <a:r>
              <a:rPr lang="en-US" sz="1600"/>
              <a:t> Offer real-time insights into job trends, in-demand skills, and salary benchmarks across industries.</a:t>
            </a:r>
            <a:br>
              <a:rPr lang="en-US" sz="1600"/>
            </a:br>
            <a:endParaRPr sz="1600"/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600"/>
              <a:t>Track Career Progress:</a:t>
            </a:r>
            <a:r>
              <a:rPr lang="en-US" sz="1600"/>
              <a:t> Maintain a comprehensive history of job applications, interview feedback, and career growth metrics.</a:t>
            </a:r>
            <a:endParaRPr sz="16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                       HomePage: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24550" y="4743450"/>
            <a:ext cx="8490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Landing Page is the AI Career Coach platform's first impression, designed for engagement. The hero section features a strong headline, subheading, and CTAs for sign-ups, complemented by a career growth image. Four key features are highlighted: AI career guidance, interview prep, industry insights, and smart resume creation. Credibility is built with engagement stats (e.g., 50+ industries, 95% success rate). A smooth user experience is ensured by the top navigation bar.</a:t>
            </a:r>
            <a:endParaRPr sz="1600"/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5475"/>
            <a:ext cx="8839200" cy="335566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2775850" y="43411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8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Login Page: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825300" y="3754850"/>
            <a:ext cx="41172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973147" y="4804949"/>
            <a:ext cx="744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User Login Page offers secure authentication via email/password or "Sign in with Google" for a quick, private experience. Form validation, Clerk authentication, and JWT secure sessions and enhance user management with a clean, user-friendly design.</a:t>
            </a:r>
            <a:endParaRPr sz="1600"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147" y="1082499"/>
            <a:ext cx="7445698" cy="325531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072000" y="42590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8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      User Signup:</a:t>
            </a:r>
            <a:endParaRPr b="1"/>
          </a:p>
        </p:txBody>
      </p:sp>
      <p:sp>
        <p:nvSpPr>
          <p:cNvPr id="213" name="Google Shape;213;p21"/>
          <p:cNvSpPr txBox="1"/>
          <p:nvPr/>
        </p:nvSpPr>
        <p:spPr>
          <a:xfrm>
            <a:off x="598714" y="990600"/>
            <a:ext cx="7849636" cy="34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043000" y="3898350"/>
            <a:ext cx="46113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13410" y="4846792"/>
            <a:ext cx="746514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Sign-Up Page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users to register by providing their first name, last name, email, and password. It also includes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"Sign Up with Google"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option for quick authentication. The page ensures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validation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prevent errors and enforces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password storage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protect user credentials. By offering both manual and Google-based registration, the page enhances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 and accessibility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making the onboarding process smooth and efficient.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699" y="1197428"/>
            <a:ext cx="8164601" cy="348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900"/>
              <a:t>       Key Features</a:t>
            </a:r>
            <a:endParaRPr b="1" sz="2900"/>
          </a:p>
        </p:txBody>
      </p:sp>
      <p:sp>
        <p:nvSpPr>
          <p:cNvPr id="223" name="Google Shape;223;p22"/>
          <p:cNvSpPr/>
          <p:nvPr/>
        </p:nvSpPr>
        <p:spPr>
          <a:xfrm>
            <a:off x="481780" y="1539474"/>
            <a:ext cx="8313494" cy="2446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🚀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Authentication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Sign up &amp; log in via email/password or Google.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🔐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Two-Factor Authentication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Enhances security for user accounts.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📝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Onboarding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Collects industry, skills, and experience details.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Insights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Displays market trends, demand level, and top skills.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💰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 Analytics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Provides salary ranges based on job roles.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🔎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Tools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Personalized recommendations for career advancement.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🔄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Updates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Ensures fresh data for industry insights.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🎨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 UI Theme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Modern and professional user interface.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📱 </a:t>
            </a: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Design</a:t>
            </a: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Works across desktop and mobile devices. 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Future Scope</a:t>
            </a:r>
            <a:endParaRPr b="1"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457200" y="953425"/>
            <a:ext cx="8447314" cy="5403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Future Scope of  AI Personalized Learning</a:t>
            </a:r>
            <a:endParaRPr b="1" sz="15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As part of </a:t>
            </a:r>
            <a:r>
              <a:rPr b="1" lang="en-US" sz="1500"/>
              <a:t>AI Personalized Learning</a:t>
            </a:r>
            <a:r>
              <a:rPr lang="en-US" sz="1500"/>
              <a:t> continuous evolution, we aim to enhance the platform with cutting-edge features that improve user experience, security, and efficiency.</a:t>
            </a:r>
            <a:endParaRPr b="1" sz="15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Upcoming Features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1600"/>
              <a:t>🎤 </a:t>
            </a:r>
            <a:r>
              <a:rPr b="1" lang="en-US" sz="1600"/>
              <a:t>AI Mock Interviews &amp; Feedback</a:t>
            </a:r>
            <a:endParaRPr sz="1600"/>
          </a:p>
          <a:p>
            <a:pPr indent="-32385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/>
              <a:t>Simulated job interviews with real-time AI evaluation.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/>
              <a:t>Instant feedback on communication, technical skills, and confidence level.</a:t>
            </a:r>
            <a:endParaRPr sz="15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/>
              <a:t>🔐 </a:t>
            </a:r>
            <a:r>
              <a:rPr b="1" lang="en-US" sz="1600"/>
              <a:t>AI Resume Builder &amp; Skill Verification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500"/>
              <a:t> Effortlessly create professional resumes backed by verified credentials.</a:t>
            </a:r>
            <a:br>
              <a:rPr lang="en-US" sz="1500"/>
            </a:br>
            <a:r>
              <a:rPr lang="en-US" sz="1500"/>
              <a:t> • Provides secure, verifiable skill certificates for recruiters</a:t>
            </a:r>
            <a:br>
              <a:rPr lang="en-US" sz="1500"/>
            </a:br>
            <a:r>
              <a:rPr lang="en-US" sz="1500"/>
              <a:t> • Enhances trust and reduces manual validation effort</a:t>
            </a:r>
            <a:endParaRPr sz="15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/>
              <a:t>💼 </a:t>
            </a:r>
            <a:r>
              <a:rPr b="1" lang="en-US" sz="1600"/>
              <a:t>AI Cover Letter &amp; Job Matching</a:t>
            </a:r>
            <a:br>
              <a:rPr b="1" lang="en-US" sz="1600"/>
            </a:br>
            <a:r>
              <a:rPr lang="en-US" sz="1500"/>
              <a:t> Generate personalized cover letters and discover job/internship opportunities tailored to your profile.</a:t>
            </a:r>
            <a:br>
              <a:rPr lang="en-US" sz="1500"/>
            </a:br>
            <a:r>
              <a:rPr lang="en-US" sz="1500"/>
              <a:t> • AI-curated job suggestions</a:t>
            </a:r>
            <a:br>
              <a:rPr lang="en-US" sz="1500"/>
            </a:br>
            <a:r>
              <a:rPr lang="en-US" sz="1500"/>
              <a:t> • Seamless applications with partnered employers</a:t>
            </a:r>
            <a:br>
              <a:rPr lang="en-US" sz="1500"/>
            </a:br>
            <a:r>
              <a:rPr lang="en-US" sz="1500"/>
              <a:t> • Boost your chances with role-optimized cover letters</a:t>
            </a:r>
            <a:endParaRPr sz="15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AI Personalized Learning serves as a powerful, data-driven platform that bridges the gap between career uncertainty and informed decision-making. By combining advanced AI technologies with real-time market insights, it empowers users to identify skill gaps, explore career opportunities, and enhance their professional growth effectively.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The platform not only simplifies resume building and interview preparation but also provides personalized recommendations tailored to individual goals. With its scalable architecture, secure authentication, and user-friendly design, it ensures a seamless and reliable experience.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As the job market continues to evolve, AI Personalized Learning has the potential to become an essential tool for students, job seekers, and professionals—guiding them toward smarter career choices and long-term success.</a:t>
            </a:r>
            <a:endParaRPr sz="2100"/>
          </a:p>
          <a:p>
            <a:pPr indent="-2286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288452" y="1350067"/>
            <a:ext cx="8960400" cy="47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and integrate advanced features in AI Carrier Coach , we referred to the following technologies, tools, and resources: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&amp; Security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🛡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Clerk Authentication (User Management)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www.clerk.dev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&amp;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🛠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&amp; Express.js for API development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nodejs.org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expressjs.com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🗄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&amp; Neon for database storage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www.postgresql.org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neon.tech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🔧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Prisma ORM for database management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www.prisma.io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Industry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🤖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APIs for AI-powered career analysis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ai.google.dev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Trends &amp; Insights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LinkedIn Economic Graph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Glassdoor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Development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💻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 Documentation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nextjs.org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🎨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ShadCn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 for UI Components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chakra-ui.com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&amp; 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🧪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Postman for API testing &amp; middleware validation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/>
              </a:rPr>
              <a:t>www.postman.com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Monitoring &amp; Performance Analysis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/>
              </a:rPr>
              <a:t>Datadog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/>
              </a:rPr>
              <a:t>Sentry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177473" y="89412"/>
            <a:ext cx="6399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References:</a:t>
            </a:r>
            <a:endParaRPr b="1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>
            <p:ph idx="1" type="body"/>
          </p:nvPr>
        </p:nvSpPr>
        <p:spPr>
          <a:xfrm>
            <a:off x="2339752" y="2852936"/>
            <a:ext cx="4464496" cy="288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</a:pPr>
            <a:r>
              <a:rPr b="1" lang="en-US" sz="5900">
                <a:latin typeface="Algerian"/>
                <a:ea typeface="Algerian"/>
                <a:cs typeface="Algerian"/>
                <a:sym typeface="Algerian"/>
              </a:rPr>
              <a:t>THANK YOU</a:t>
            </a:r>
            <a:endParaRPr sz="5900"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Bubble Sor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bble Sor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